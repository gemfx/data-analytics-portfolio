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76" r:id="rId6"/>
    <p:sldId id="266" r:id="rId7"/>
    <p:sldId id="275" r:id="rId8"/>
    <p:sldId id="273" r:id="rId9"/>
    <p:sldId id="272" r:id="rId10"/>
    <p:sldId id="278" r:id="rId11"/>
    <p:sldId id="271" r:id="rId12"/>
    <p:sldId id="270" r:id="rId13"/>
    <p:sldId id="281" r:id="rId14"/>
    <p:sldId id="269" r:id="rId15"/>
    <p:sldId id="279" r:id="rId16"/>
    <p:sldId id="282" r:id="rId17"/>
    <p:sldId id="283" r:id="rId18"/>
    <p:sldId id="284" r:id="rId19"/>
    <p:sldId id="285" r:id="rId20"/>
    <p:sldId id="267" r:id="rId21"/>
    <p:sldId id="280" r:id="rId22"/>
    <p:sldId id="286" r:id="rId23"/>
    <p:sldId id="287" r:id="rId24"/>
    <p:sldId id="268" r:id="rId25"/>
    <p:sldId id="277" r:id="rId26"/>
    <p:sldId id="262" r:id="rId27"/>
    <p:sldId id="288" r:id="rId28"/>
    <p:sldId id="27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E0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p:scale>
          <a:sx n="60" d="100"/>
          <a:sy n="60" d="100"/>
        </p:scale>
        <p:origin x="716"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CAC45DB-0945-4753-9D28-4269F172E03C}"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50833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AC45DB-0945-4753-9D28-4269F172E03C}"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365114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CAC45DB-0945-4753-9D28-4269F172E03C}"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1267684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AC45DB-0945-4753-9D28-4269F172E03C}"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917907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AC45DB-0945-4753-9D28-4269F172E03C}"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4265522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AC45DB-0945-4753-9D28-4269F172E03C}"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421371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AC45DB-0945-4753-9D28-4269F172E03C}" type="datetimeFigureOut">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2998489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AC45DB-0945-4753-9D28-4269F172E03C}"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465556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AC45DB-0945-4753-9D28-4269F172E03C}"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1578795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AC45DB-0945-4753-9D28-4269F172E03C}"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11900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AC45DB-0945-4753-9D28-4269F172E03C}"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534531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alpha val="77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AC45DB-0945-4753-9D28-4269F172E03C}" type="datetimeFigureOut">
              <a:rPr lang="en-US" smtClean="0"/>
              <a:t>1/17/2026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D660FA-D10F-4425-8E6F-7CAFFE986C06}" type="slidenum">
              <a:rPr lang="en-US" smtClean="0"/>
              <a:t>‹#›</a:t>
            </a:fld>
            <a:endParaRPr lang="en-US"/>
          </a:p>
        </p:txBody>
      </p:sp>
    </p:spTree>
    <p:extLst>
      <p:ext uri="{BB962C8B-B14F-4D97-AF65-F5344CB8AC3E}">
        <p14:creationId xmlns:p14="http://schemas.microsoft.com/office/powerpoint/2010/main" val="1350245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5907" y="1276411"/>
            <a:ext cx="9469395" cy="2387600"/>
          </a:xfrm>
        </p:spPr>
        <p:txBody>
          <a:bodyPr>
            <a:normAutofit/>
          </a:bodyPr>
          <a:lstStyle/>
          <a:p>
            <a:r>
              <a:rPr lang="en-US" sz="4800" b="1" dirty="0" err="1">
                <a:latin typeface="Arial" panose="020B0604020202020204" pitchFamily="34" charset="0"/>
                <a:cs typeface="Arial" panose="020B0604020202020204" pitchFamily="34" charset="0"/>
              </a:rPr>
              <a:t>SmartRetail</a:t>
            </a:r>
            <a:r>
              <a:rPr lang="en-US" sz="4800" b="1" dirty="0">
                <a:latin typeface="Arial" panose="020B0604020202020204" pitchFamily="34" charset="0"/>
                <a:cs typeface="Arial" panose="020B0604020202020204" pitchFamily="34" charset="0"/>
              </a:rPr>
              <a:t> Performance Review: A Data-Driven Analysis</a:t>
            </a:r>
          </a:p>
        </p:txBody>
      </p:sp>
      <p:sp>
        <p:nvSpPr>
          <p:cNvPr id="3" name="Subtitle 2"/>
          <p:cNvSpPr>
            <a:spLocks noGrp="1"/>
          </p:cNvSpPr>
          <p:nvPr>
            <p:ph type="subTitle" idx="1"/>
          </p:nvPr>
        </p:nvSpPr>
        <p:spPr>
          <a:xfrm>
            <a:off x="1524000" y="4652363"/>
            <a:ext cx="9144000" cy="1655762"/>
          </a:xfrm>
        </p:spPr>
        <p:txBody>
          <a:bodyPr/>
          <a:lstStyle/>
          <a:p>
            <a:r>
              <a:rPr lang="en-US" dirty="0"/>
              <a:t>To create an impactful presentation for </a:t>
            </a:r>
            <a:r>
              <a:rPr lang="en-US" dirty="0" err="1"/>
              <a:t>SmartRetail</a:t>
            </a:r>
            <a:r>
              <a:rPr lang="en-US" dirty="0"/>
              <a:t> Company, here is the visual placement guide using your specific data and Power BI retrieval steps.</a:t>
            </a:r>
          </a:p>
        </p:txBody>
      </p:sp>
      <p:pic>
        <p:nvPicPr>
          <p:cNvPr id="6" name="Picture 5">
            <a:extLst>
              <a:ext uri="{FF2B5EF4-FFF2-40B4-BE49-F238E27FC236}">
                <a16:creationId xmlns:a16="http://schemas.microsoft.com/office/drawing/2014/main" id="{6BFEDBA9-2E41-DA15-6152-0701E84C02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1387" y="-671940"/>
            <a:ext cx="6448425" cy="3608180"/>
          </a:xfrm>
          <a:prstGeom prst="rect">
            <a:avLst/>
          </a:prstGeom>
        </p:spPr>
      </p:pic>
    </p:spTree>
    <p:extLst>
      <p:ext uri="{BB962C8B-B14F-4D97-AF65-F5344CB8AC3E}">
        <p14:creationId xmlns:p14="http://schemas.microsoft.com/office/powerpoint/2010/main" val="807416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Business Performance Overview</a:t>
            </a:r>
          </a:p>
        </p:txBody>
      </p:sp>
      <p:sp>
        <p:nvSpPr>
          <p:cNvPr id="3" name="Content Placeholder 2"/>
          <p:cNvSpPr>
            <a:spLocks noGrp="1"/>
          </p:cNvSpPr>
          <p:nvPr>
            <p:ph idx="1"/>
          </p:nvPr>
        </p:nvSpPr>
        <p:spPr/>
        <p:txBody>
          <a:bodyPr/>
          <a:lstStyle/>
          <a:p>
            <a:pPr marL="0" indent="0">
              <a:buNone/>
            </a:pPr>
            <a:r>
              <a:rPr lang="en-US" i="1" dirty="0" err="1"/>
              <a:t>SmartRetail</a:t>
            </a:r>
            <a:r>
              <a:rPr lang="en-US" i="1" dirty="0"/>
              <a:t> Strategic Analysis &amp; Growth Roadmap</a:t>
            </a:r>
          </a:p>
          <a:p>
            <a:r>
              <a:rPr lang="en-US" i="1" dirty="0"/>
              <a:t>Total Revenue: </a:t>
            </a:r>
            <a:r>
              <a:rPr lang="en-US" i="1" dirty="0" err="1"/>
              <a:t>SmartRetail</a:t>
            </a:r>
            <a:r>
              <a:rPr lang="en-US" i="1" dirty="0"/>
              <a:t> is currently a $2.3M revenue business.</a:t>
            </a:r>
          </a:p>
          <a:p>
            <a:r>
              <a:rPr lang="en-US" i="1" dirty="0"/>
              <a:t>Total Profit: The business generated $286k in profit.</a:t>
            </a:r>
          </a:p>
          <a:p>
            <a:r>
              <a:rPr lang="en-US" i="1" dirty="0"/>
              <a:t>Total Quantity: </a:t>
            </a:r>
            <a:r>
              <a:rPr lang="en-US" i="1" dirty="0" err="1"/>
              <a:t>SmartRetail</a:t>
            </a:r>
            <a:r>
              <a:rPr lang="en-US" i="1" dirty="0"/>
              <a:t> successfully processed and fulfilled a total of 38k in unit per quantity sold.</a:t>
            </a:r>
          </a:p>
          <a:p>
            <a:r>
              <a:rPr lang="en-US" i="1" dirty="0"/>
              <a:t>Growth Trend: Sales have shown consistent year-over-year growth, reaching a peak in 2017.</a:t>
            </a:r>
          </a:p>
          <a:p>
            <a:r>
              <a:rPr lang="en-US" i="1" dirty="0"/>
              <a:t>Core Driver: The Consumer Segment is the primary engine of the business, contributing over 50% of total revenue.</a:t>
            </a:r>
          </a:p>
        </p:txBody>
      </p:sp>
    </p:spTree>
    <p:extLst>
      <p:ext uri="{BB962C8B-B14F-4D97-AF65-F5344CB8AC3E}">
        <p14:creationId xmlns:p14="http://schemas.microsoft.com/office/powerpoint/2010/main" val="874433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BASELINE METRICS</a:t>
            </a:r>
          </a:p>
        </p:txBody>
      </p:sp>
      <p:sp>
        <p:nvSpPr>
          <p:cNvPr id="3" name="Content Placeholder 2"/>
          <p:cNvSpPr>
            <a:spLocks noGrp="1"/>
          </p:cNvSpPr>
          <p:nvPr>
            <p:ph idx="1"/>
          </p:nvPr>
        </p:nvSpPr>
        <p:spPr/>
        <p:txBody>
          <a:bodyPr/>
          <a:lstStyle/>
          <a:p>
            <a:r>
              <a:rPr lang="en-US" i="1" dirty="0"/>
              <a:t>The Headline Figures (Q1):</a:t>
            </a:r>
          </a:p>
          <a:p>
            <a:pPr marL="0" indent="0">
              <a:buNone/>
            </a:pPr>
            <a:r>
              <a:rPr lang="en-US" i="1" dirty="0"/>
              <a:t>First, to address Question 1: What is the scale of our operation? We have generated a Total Revenue of 2.3 million dollars (£2.3M). From that revenue, we secured a Total Profit of 286,397 dollars. In terms of volume, we have successfully shipped 37,873 units across all categories. These are healthy headline figures implying a gross margin of roughly 12.5%.</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782066"/>
            <a:ext cx="2648208" cy="2075934"/>
          </a:xfrm>
          <a:prstGeom prst="rect">
            <a:avLst/>
          </a:prstGeom>
        </p:spPr>
      </p:pic>
      <p:pic>
        <p:nvPicPr>
          <p:cNvPr id="4"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1197" y="4782066"/>
            <a:ext cx="2669319" cy="207593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8311" y="4782064"/>
            <a:ext cx="3017751" cy="2075935"/>
          </a:xfrm>
          <a:prstGeom prst="rect">
            <a:avLst/>
          </a:prstGeom>
        </p:spPr>
      </p:pic>
    </p:spTree>
    <p:extLst>
      <p:ext uri="{BB962C8B-B14F-4D97-AF65-F5344CB8AC3E}">
        <p14:creationId xmlns:p14="http://schemas.microsoft.com/office/powerpoint/2010/main" val="2849751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BASELINE METRICS</a:t>
            </a:r>
            <a:endParaRPr lang="en-US" dirty="0"/>
          </a:p>
        </p:txBody>
      </p:sp>
      <p:sp>
        <p:nvSpPr>
          <p:cNvPr id="3" name="Content Placeholder 2"/>
          <p:cNvSpPr>
            <a:spLocks noGrp="1"/>
          </p:cNvSpPr>
          <p:nvPr>
            <p:ph idx="1"/>
          </p:nvPr>
        </p:nvSpPr>
        <p:spPr/>
        <p:txBody>
          <a:bodyPr/>
          <a:lstStyle/>
          <a:p>
            <a:r>
              <a:rPr lang="en-US" i="1" dirty="0"/>
              <a:t> Trends Over Time (Q2):</a:t>
            </a:r>
          </a:p>
          <a:p>
            <a:pPr marL="0" indent="0">
              <a:buNone/>
            </a:pPr>
            <a:r>
              <a:rPr lang="en-US" i="1" dirty="0"/>
              <a:t>Moving to Question 2 regarding our trajectory. The trend is undeniably positive. On a yearly basis, both sales and profits have increased consistently every single year from 2014 through to 2017. On a monthly basis, however, we see extreme seasonality. Our business starts slow in January and builds momentum throughout the year, culminating in a massive spike in Q4.</a:t>
            </a:r>
          </a:p>
        </p:txBody>
      </p:sp>
    </p:spTree>
    <p:extLst>
      <p:ext uri="{BB962C8B-B14F-4D97-AF65-F5344CB8AC3E}">
        <p14:creationId xmlns:p14="http://schemas.microsoft.com/office/powerpoint/2010/main" val="706927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38200" y="270638"/>
            <a:ext cx="10259857" cy="6253729"/>
          </a:xfrm>
          <a:prstGeom prst="rect">
            <a:avLst/>
          </a:prstGeom>
        </p:spPr>
      </p:pic>
    </p:spTree>
    <p:extLst>
      <p:ext uri="{BB962C8B-B14F-4D97-AF65-F5344CB8AC3E}">
        <p14:creationId xmlns:p14="http://schemas.microsoft.com/office/powerpoint/2010/main" val="182456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BASELINE METRICS</a:t>
            </a:r>
            <a:endParaRPr lang="en-US" dirty="0"/>
          </a:p>
        </p:txBody>
      </p:sp>
      <p:sp>
        <p:nvSpPr>
          <p:cNvPr id="3" name="Content Placeholder 2"/>
          <p:cNvSpPr>
            <a:spLocks noGrp="1"/>
          </p:cNvSpPr>
          <p:nvPr>
            <p:ph idx="1"/>
          </p:nvPr>
        </p:nvSpPr>
        <p:spPr/>
        <p:txBody>
          <a:bodyPr/>
          <a:lstStyle/>
          <a:p>
            <a:r>
              <a:rPr lang="en-US" i="1" dirty="0"/>
              <a:t>Seasonal Product Performance (Q3):</a:t>
            </a:r>
          </a:p>
          <a:p>
            <a:pPr marL="0" indent="0">
              <a:buNone/>
            </a:pPr>
            <a:r>
              <a:rPr lang="en-US" i="1" dirty="0"/>
              <a:t>This seasonality leads to Question 3, What products drive revenue in these specific seasons? Over all our data shows distinct leading board with Canon </a:t>
            </a:r>
            <a:r>
              <a:rPr lang="en-US" i="1" dirty="0" err="1"/>
              <a:t>imageCLASS</a:t>
            </a:r>
            <a:r>
              <a:rPr lang="en-US" i="1" dirty="0"/>
              <a:t> 2200 advance Copier  as the seasonal winner. In Winter, our top seller is the HP </a:t>
            </a:r>
            <a:r>
              <a:rPr lang="en-US" i="1" dirty="0" err="1"/>
              <a:t>Designjet</a:t>
            </a:r>
            <a:r>
              <a:rPr lang="en-US" i="1" dirty="0"/>
              <a:t> Large Format Printer. In Spring, demand shifts to the Cisco </a:t>
            </a:r>
            <a:r>
              <a:rPr lang="en-US" i="1" dirty="0" err="1"/>
              <a:t>TelePresence</a:t>
            </a:r>
            <a:r>
              <a:rPr lang="en-US" i="1" dirty="0"/>
              <a:t> System. By Summer, we see a spike in office essentials like Electric Letter Openers, and in Autumn, the Canon </a:t>
            </a:r>
            <a:r>
              <a:rPr lang="en-US" i="1" dirty="0" err="1"/>
              <a:t>imageCLASS</a:t>
            </a:r>
            <a:r>
              <a:rPr lang="en-US" i="1" dirty="0"/>
              <a:t> Copier takes the lead. </a:t>
            </a:r>
          </a:p>
        </p:txBody>
      </p:sp>
    </p:spTree>
    <p:extLst>
      <p:ext uri="{BB962C8B-B14F-4D97-AF65-F5344CB8AC3E}">
        <p14:creationId xmlns:p14="http://schemas.microsoft.com/office/powerpoint/2010/main" val="2816731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11E6984-3DC0-2D82-A0A5-77D2044C92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9552" y="1825625"/>
            <a:ext cx="9592896" cy="4351338"/>
          </a:xfrm>
        </p:spPr>
      </p:pic>
    </p:spTree>
    <p:extLst>
      <p:ext uri="{BB962C8B-B14F-4D97-AF65-F5344CB8AC3E}">
        <p14:creationId xmlns:p14="http://schemas.microsoft.com/office/powerpoint/2010/main" val="3918772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t>THE CUSTOMER PROFILE</a:t>
            </a:r>
          </a:p>
        </p:txBody>
      </p:sp>
      <p:sp>
        <p:nvSpPr>
          <p:cNvPr id="3" name="Content Placeholder 2"/>
          <p:cNvSpPr>
            <a:spLocks noGrp="1"/>
          </p:cNvSpPr>
          <p:nvPr>
            <p:ph idx="1"/>
          </p:nvPr>
        </p:nvSpPr>
        <p:spPr/>
        <p:txBody>
          <a:bodyPr/>
          <a:lstStyle/>
          <a:p>
            <a:r>
              <a:rPr lang="en-US" i="1" dirty="0"/>
              <a:t>Customer Spending (Q4):</a:t>
            </a:r>
          </a:p>
          <a:p>
            <a:pPr marL="0" indent="0">
              <a:buNone/>
            </a:pPr>
            <a:r>
              <a:rPr lang="en-US" i="1" dirty="0"/>
              <a:t>Addressing Question 4, Who are our most valuable segments? The Consumer segment is by far our dominant revenue driver, contributing 1.16 million dollars—which is nearly double the Corporate segment. While we value our Corporate and Home Office clients, the individual consumer keeps the lights on.</a:t>
            </a:r>
          </a:p>
        </p:txBody>
      </p:sp>
      <p:pic>
        <p:nvPicPr>
          <p:cNvPr id="4" name="Picture 3">
            <a:extLst>
              <a:ext uri="{FF2B5EF4-FFF2-40B4-BE49-F238E27FC236}">
                <a16:creationId xmlns:a16="http://schemas.microsoft.com/office/drawing/2014/main" id="{F13D5825-7550-04DF-F7D5-47F69083FE31}"/>
              </a:ext>
            </a:extLst>
          </p:cNvPr>
          <p:cNvPicPr>
            <a:picLocks noChangeAspect="1"/>
          </p:cNvPicPr>
          <p:nvPr/>
        </p:nvPicPr>
        <p:blipFill>
          <a:blip r:embed="rId2"/>
          <a:stretch>
            <a:fillRect/>
          </a:stretch>
        </p:blipFill>
        <p:spPr>
          <a:xfrm>
            <a:off x="6237115" y="4011961"/>
            <a:ext cx="5116685" cy="2846039"/>
          </a:xfrm>
          <a:prstGeom prst="rect">
            <a:avLst/>
          </a:prstGeom>
        </p:spPr>
      </p:pic>
    </p:spTree>
    <p:extLst>
      <p:ext uri="{BB962C8B-B14F-4D97-AF65-F5344CB8AC3E}">
        <p14:creationId xmlns:p14="http://schemas.microsoft.com/office/powerpoint/2010/main" val="266698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t>THE CUSTOMER PROFILE</a:t>
            </a:r>
          </a:p>
        </p:txBody>
      </p:sp>
      <p:sp>
        <p:nvSpPr>
          <p:cNvPr id="3" name="Content Placeholder 2"/>
          <p:cNvSpPr>
            <a:spLocks noGrp="1"/>
          </p:cNvSpPr>
          <p:nvPr>
            <p:ph idx="1"/>
          </p:nvPr>
        </p:nvSpPr>
        <p:spPr/>
        <p:txBody>
          <a:bodyPr>
            <a:normAutofit fontScale="92500" lnSpcReduction="10000"/>
          </a:bodyPr>
          <a:lstStyle/>
          <a:p>
            <a:r>
              <a:rPr lang="en-US" i="1" dirty="0"/>
              <a:t>Discounts &amp; </a:t>
            </a:r>
            <a:r>
              <a:rPr lang="en-US" i="1" dirty="0" err="1"/>
              <a:t>Behaviour</a:t>
            </a:r>
            <a:r>
              <a:rPr lang="en-US" i="1" dirty="0"/>
              <a:t> (Q5):</a:t>
            </a:r>
          </a:p>
          <a:p>
            <a:pPr marL="0" indent="0">
              <a:buNone/>
            </a:pPr>
            <a:r>
              <a:rPr lang="en-US" i="1" dirty="0"/>
              <a:t>Question 5 asked how discounts affect purchasing </a:t>
            </a:r>
            <a:r>
              <a:rPr lang="en-US" i="1" dirty="0" err="1"/>
              <a:t>behaviour</a:t>
            </a:r>
            <a:r>
              <a:rPr lang="en-US" i="1" dirty="0"/>
              <a:t>? At 0% discount, volume is the highest mainly for FURNIITURE and OFFICE SUPPLIES. However, however as discount increase to 20% - 40%, the visual shows Technology products responding with higher proportional sales.</a:t>
            </a:r>
          </a:p>
          <a:p>
            <a:pPr marL="0" indent="0">
              <a:buNone/>
            </a:pPr>
            <a:r>
              <a:rPr lang="en-US" i="1" dirty="0"/>
              <a:t>With this Executives should not assume discounting benefits all product lines equally because extremely high discount don’t boost quantity significantly and could be margin-destroying.</a:t>
            </a:r>
          </a:p>
          <a:p>
            <a:pPr marL="0" indent="0">
              <a:buNone/>
            </a:pPr>
            <a:r>
              <a:rPr lang="en-US" i="1" dirty="0"/>
              <a:t>Our recommendation will be for the company to have a tailored discount strategy in other to avoid blanket discount policies and also  overlay profit margin to determine if increased quantities just discount cost (important in retail B&amp;B) and similar issue goes to question (14) below.</a:t>
            </a:r>
          </a:p>
        </p:txBody>
      </p:sp>
    </p:spTree>
    <p:extLst>
      <p:ext uri="{BB962C8B-B14F-4D97-AF65-F5344CB8AC3E}">
        <p14:creationId xmlns:p14="http://schemas.microsoft.com/office/powerpoint/2010/main" val="4198785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611795" y="541384"/>
            <a:ext cx="10850014" cy="5950856"/>
          </a:xfrm>
          <a:prstGeom prst="rect">
            <a:avLst/>
          </a:prstGeom>
        </p:spPr>
      </p:pic>
    </p:spTree>
    <p:extLst>
      <p:ext uri="{BB962C8B-B14F-4D97-AF65-F5344CB8AC3E}">
        <p14:creationId xmlns:p14="http://schemas.microsoft.com/office/powerpoint/2010/main" val="1359386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t>Market Dynamics &amp; Portfolio Performance</a:t>
            </a:r>
          </a:p>
        </p:txBody>
      </p:sp>
      <p:sp>
        <p:nvSpPr>
          <p:cNvPr id="3" name="Content Placeholder 2"/>
          <p:cNvSpPr>
            <a:spLocks noGrp="1"/>
          </p:cNvSpPr>
          <p:nvPr>
            <p:ph idx="1"/>
          </p:nvPr>
        </p:nvSpPr>
        <p:spPr/>
        <p:txBody>
          <a:bodyPr/>
          <a:lstStyle/>
          <a:p>
            <a:r>
              <a:rPr lang="en-US" i="1" dirty="0"/>
              <a:t>Return Rates (Q6):</a:t>
            </a:r>
          </a:p>
          <a:p>
            <a:pPr marL="0" indent="0">
              <a:buNone/>
            </a:pPr>
            <a:r>
              <a:rPr lang="en-US" i="1" dirty="0"/>
              <a:t>Regarding Question 6 on return rates. I must highlight a gap in our data governance here. The current dataset does not flag returned items or negative quantities. We cannot currently calculate return rates, and I have flagged this as a priority fix for our IT team to ensure we can track this metric in Q3.</a:t>
            </a:r>
          </a:p>
        </p:txBody>
      </p:sp>
      <p:pic>
        <p:nvPicPr>
          <p:cNvPr id="5" name="Picture 4">
            <a:extLst>
              <a:ext uri="{FF2B5EF4-FFF2-40B4-BE49-F238E27FC236}">
                <a16:creationId xmlns:a16="http://schemas.microsoft.com/office/drawing/2014/main" id="{1F4C9FBB-F17C-1F2C-7BFD-CD79EB7812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3260" y="4141878"/>
            <a:ext cx="4940540" cy="2422117"/>
          </a:xfrm>
          <a:prstGeom prst="rect">
            <a:avLst/>
          </a:prstGeom>
        </p:spPr>
      </p:pic>
    </p:spTree>
    <p:extLst>
      <p:ext uri="{BB962C8B-B14F-4D97-AF65-F5344CB8AC3E}">
        <p14:creationId xmlns:p14="http://schemas.microsoft.com/office/powerpoint/2010/main" val="2744064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4000" b="1" dirty="0" err="1"/>
              <a:t>Market</a:t>
            </a:r>
            <a:r>
              <a:rPr lang="fr-FR" sz="4000" b="1" dirty="0"/>
              <a:t> Dynamics &amp; Portfolio Performance</a:t>
            </a:r>
            <a:endParaRPr lang="en-US" sz="4000" b="1" dirty="0"/>
          </a:p>
        </p:txBody>
      </p:sp>
      <p:sp>
        <p:nvSpPr>
          <p:cNvPr id="3" name="Content Placeholder 2"/>
          <p:cNvSpPr>
            <a:spLocks noGrp="1"/>
          </p:cNvSpPr>
          <p:nvPr>
            <p:ph idx="1"/>
          </p:nvPr>
        </p:nvSpPr>
        <p:spPr/>
        <p:txBody>
          <a:bodyPr/>
          <a:lstStyle/>
          <a:p>
            <a:r>
              <a:rPr lang="en-US" i="1" dirty="0"/>
              <a:t>Peaks and Troughs (Q7): </a:t>
            </a:r>
          </a:p>
          <a:p>
            <a:pPr marL="0" indent="0">
              <a:buNone/>
            </a:pPr>
            <a:r>
              <a:rPr lang="en-US" i="1" dirty="0"/>
              <a:t>When do we perform best and worst? Aligning with our seasonal findings, our Peak Performance was recorded in March 2017, our highest sales month on record. Conversely, our Lowest Performance consistently falls in February, with June 2014 being our historic floor. June is effectively our 'off-season'.</a:t>
            </a:r>
          </a:p>
        </p:txBody>
      </p:sp>
    </p:spTree>
    <p:extLst>
      <p:ext uri="{BB962C8B-B14F-4D97-AF65-F5344CB8AC3E}">
        <p14:creationId xmlns:p14="http://schemas.microsoft.com/office/powerpoint/2010/main" val="126727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31" y="633417"/>
            <a:ext cx="11989138" cy="5591166"/>
          </a:xfrm>
          <a:prstGeom prst="rect">
            <a:avLst/>
          </a:prstGeom>
        </p:spPr>
      </p:pic>
    </p:spTree>
    <p:extLst>
      <p:ext uri="{BB962C8B-B14F-4D97-AF65-F5344CB8AC3E}">
        <p14:creationId xmlns:p14="http://schemas.microsoft.com/office/powerpoint/2010/main" val="3122652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4000" b="1" dirty="0" err="1"/>
              <a:t>Market</a:t>
            </a:r>
            <a:r>
              <a:rPr lang="fr-FR" sz="4000" b="1" dirty="0"/>
              <a:t> Dynamics &amp; Portfolio Performance</a:t>
            </a:r>
            <a:endParaRPr lang="en-US" sz="4000" b="1" dirty="0"/>
          </a:p>
        </p:txBody>
      </p:sp>
      <p:sp>
        <p:nvSpPr>
          <p:cNvPr id="3" name="Content Placeholder 2"/>
          <p:cNvSpPr>
            <a:spLocks noGrp="1"/>
          </p:cNvSpPr>
          <p:nvPr>
            <p:ph idx="1"/>
          </p:nvPr>
        </p:nvSpPr>
        <p:spPr/>
        <p:txBody>
          <a:bodyPr/>
          <a:lstStyle/>
          <a:p>
            <a:r>
              <a:rPr lang="en-US" i="1" dirty="0"/>
              <a:t>Top 10 Products (Q8): </a:t>
            </a:r>
          </a:p>
          <a:p>
            <a:pPr marL="0" indent="0">
              <a:buNone/>
            </a:pPr>
            <a:r>
              <a:rPr lang="en-US" i="1" dirty="0"/>
              <a:t>What are our star products by Sales &amp; Profit? The clear winner for both Sales and Profit is the Canon </a:t>
            </a:r>
            <a:r>
              <a:rPr lang="en-US" i="1" dirty="0" err="1"/>
              <a:t>imageCLASS</a:t>
            </a:r>
            <a:r>
              <a:rPr lang="en-US" i="1" dirty="0"/>
              <a:t> 2200 Advanced Copier. It generated 61,000 dollars in sales and 25,000 dollars in pure profit. It is the anchor of our portfolio.</a:t>
            </a:r>
          </a:p>
        </p:txBody>
      </p:sp>
    </p:spTree>
    <p:extLst>
      <p:ext uri="{BB962C8B-B14F-4D97-AF65-F5344CB8AC3E}">
        <p14:creationId xmlns:p14="http://schemas.microsoft.com/office/powerpoint/2010/main" val="3936466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p:blipFill>
        <p:spPr>
          <a:xfrm>
            <a:off x="1715195" y="71120"/>
            <a:ext cx="6909615" cy="3244718"/>
          </a:xfrm>
          <a:prstGeom prst="rect">
            <a:avLst/>
          </a:prstGeom>
        </p:spPr>
      </p:pic>
      <p:pic>
        <p:nvPicPr>
          <p:cNvPr id="3" name="Picture 2">
            <a:extLst>
              <a:ext uri="{FF2B5EF4-FFF2-40B4-BE49-F238E27FC236}">
                <a16:creationId xmlns:a16="http://schemas.microsoft.com/office/drawing/2014/main" id="{C1E67303-CE25-7DE6-CB99-6FBFC1FD777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15195" y="3429000"/>
            <a:ext cx="6827545" cy="3149762"/>
          </a:xfrm>
          <a:prstGeom prst="rect">
            <a:avLst/>
          </a:prstGeom>
        </p:spPr>
      </p:pic>
    </p:spTree>
    <p:extLst>
      <p:ext uri="{BB962C8B-B14F-4D97-AF65-F5344CB8AC3E}">
        <p14:creationId xmlns:p14="http://schemas.microsoft.com/office/powerpoint/2010/main" val="4261993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18BE32-529D-E6E3-360F-E40991B458CB}"/>
              </a:ext>
            </a:extLst>
          </p:cNvPr>
          <p:cNvSpPr txBox="1"/>
          <p:nvPr/>
        </p:nvSpPr>
        <p:spPr>
          <a:xfrm>
            <a:off x="589280" y="535475"/>
            <a:ext cx="9189838" cy="707886"/>
          </a:xfrm>
          <a:prstGeom prst="rect">
            <a:avLst/>
          </a:prstGeom>
          <a:noFill/>
        </p:spPr>
        <p:txBody>
          <a:bodyPr wrap="square">
            <a:spAutoFit/>
          </a:bodyPr>
          <a:lstStyle/>
          <a:p>
            <a:r>
              <a:rPr lang="fr-FR" sz="4000" b="1" dirty="0" err="1">
                <a:latin typeface="+mj-lt"/>
              </a:rPr>
              <a:t>Market</a:t>
            </a:r>
            <a:r>
              <a:rPr lang="fr-FR" sz="4000" b="1" dirty="0">
                <a:latin typeface="+mj-lt"/>
              </a:rPr>
              <a:t> Dynamics &amp; Portfolio Performance</a:t>
            </a:r>
            <a:endParaRPr lang="en-US" sz="4000" dirty="0">
              <a:latin typeface="+mj-lt"/>
            </a:endParaRPr>
          </a:p>
        </p:txBody>
      </p:sp>
      <p:sp>
        <p:nvSpPr>
          <p:cNvPr id="6" name="TextBox 5">
            <a:extLst>
              <a:ext uri="{FF2B5EF4-FFF2-40B4-BE49-F238E27FC236}">
                <a16:creationId xmlns:a16="http://schemas.microsoft.com/office/drawing/2014/main" id="{847750BC-7585-CBFD-DA96-35B883713E99}"/>
              </a:ext>
            </a:extLst>
          </p:cNvPr>
          <p:cNvSpPr txBox="1"/>
          <p:nvPr/>
        </p:nvSpPr>
        <p:spPr>
          <a:xfrm>
            <a:off x="589280" y="1875154"/>
            <a:ext cx="10302240" cy="4093428"/>
          </a:xfrm>
          <a:prstGeom prst="rect">
            <a:avLst/>
          </a:prstGeom>
          <a:noFill/>
        </p:spPr>
        <p:txBody>
          <a:bodyPr wrap="square">
            <a:spAutoFit/>
          </a:bodyPr>
          <a:lstStyle/>
          <a:p>
            <a:r>
              <a:rPr lang="en-US" sz="2000" i="1" dirty="0"/>
              <a:t>Product with high sales and negative profit (Q9): </a:t>
            </a:r>
          </a:p>
          <a:p>
            <a:r>
              <a:rPr lang="en-US" sz="2000" i="1" dirty="0"/>
              <a:t>Are there product with high sales but negative profit? The majority of our products follow a healthy trend where higher sales correlate with higher profit. However, there is a significant outlier in the bottom-right quadrant (indicated in the green shaded area).</a:t>
            </a:r>
          </a:p>
          <a:p>
            <a:r>
              <a:rPr lang="en-US" sz="2000" i="1" dirty="0"/>
              <a:t>The 'Value Destroyer': We have one specific product (the brown data point) generating approximately $4.5K in sales but resulting in negative profit. This indicates that the more we sell of this item, the more money the company loses.</a:t>
            </a:r>
          </a:p>
          <a:p>
            <a:r>
              <a:rPr lang="en-US" sz="2000" i="1" dirty="0"/>
              <a:t>Underperformers: There is a second high-volume product (the magenta point) generating over $3.5K in sales with a disproportionately low profit margin compared to lower-volume items.</a:t>
            </a:r>
          </a:p>
          <a:p>
            <a:r>
              <a:rPr lang="en-US" sz="2000" i="1" dirty="0"/>
              <a:t>Recommended: We need to immediately review the pricing strategy for the negative-profit outlier. It is likely priced too low to cover its COGS (Cost of Goods Sold) or associated shipping/overhead, and We should consider whether to "de-market" this product or transition customers to the high-margin alternatives identified in the top-left of the chart.</a:t>
            </a:r>
          </a:p>
        </p:txBody>
      </p:sp>
    </p:spTree>
    <p:extLst>
      <p:ext uri="{BB962C8B-B14F-4D97-AF65-F5344CB8AC3E}">
        <p14:creationId xmlns:p14="http://schemas.microsoft.com/office/powerpoint/2010/main" val="4024308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49FA8D-5023-191A-C609-36392FEDE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91" y="90021"/>
            <a:ext cx="11946017" cy="6677957"/>
          </a:xfrm>
          <a:prstGeom prst="rect">
            <a:avLst/>
          </a:prstGeom>
        </p:spPr>
      </p:pic>
    </p:spTree>
    <p:extLst>
      <p:ext uri="{BB962C8B-B14F-4D97-AF65-F5344CB8AC3E}">
        <p14:creationId xmlns:p14="http://schemas.microsoft.com/office/powerpoint/2010/main" val="3506361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6986F0-F8FC-7C26-039B-8272C4C7231E}"/>
              </a:ext>
            </a:extLst>
          </p:cNvPr>
          <p:cNvSpPr txBox="1"/>
          <p:nvPr/>
        </p:nvSpPr>
        <p:spPr>
          <a:xfrm>
            <a:off x="542259" y="865004"/>
            <a:ext cx="10504967" cy="707886"/>
          </a:xfrm>
          <a:prstGeom prst="rect">
            <a:avLst/>
          </a:prstGeom>
          <a:noFill/>
        </p:spPr>
        <p:txBody>
          <a:bodyPr wrap="square">
            <a:spAutoFit/>
          </a:bodyPr>
          <a:lstStyle/>
          <a:p>
            <a:r>
              <a:rPr lang="fr-FR" sz="4000" dirty="0" err="1"/>
              <a:t>Market</a:t>
            </a:r>
            <a:r>
              <a:rPr lang="fr-FR" sz="4000" dirty="0"/>
              <a:t> Dynamics &amp; Portfolio Performance</a:t>
            </a:r>
            <a:endParaRPr lang="en-US" sz="4000" dirty="0"/>
          </a:p>
        </p:txBody>
      </p:sp>
      <p:sp>
        <p:nvSpPr>
          <p:cNvPr id="5" name="TextBox 4">
            <a:extLst>
              <a:ext uri="{FF2B5EF4-FFF2-40B4-BE49-F238E27FC236}">
                <a16:creationId xmlns:a16="http://schemas.microsoft.com/office/drawing/2014/main" id="{12E6B437-BC88-B242-019C-556BD84FA8F2}"/>
              </a:ext>
            </a:extLst>
          </p:cNvPr>
          <p:cNvSpPr txBox="1"/>
          <p:nvPr/>
        </p:nvSpPr>
        <p:spPr>
          <a:xfrm>
            <a:off x="772160" y="1887696"/>
            <a:ext cx="9387840" cy="4524315"/>
          </a:xfrm>
          <a:prstGeom prst="rect">
            <a:avLst/>
          </a:prstGeom>
          <a:noFill/>
        </p:spPr>
        <p:txBody>
          <a:bodyPr wrap="square">
            <a:spAutoFit/>
          </a:bodyPr>
          <a:lstStyle/>
          <a:p>
            <a:r>
              <a:rPr lang="en-US" sz="2400" i="1" dirty="0"/>
              <a:t>Category contribution to sales(Q10): </a:t>
            </a:r>
          </a:p>
          <a:p>
            <a:r>
              <a:rPr lang="en-US" sz="2400" dirty="0"/>
              <a:t>How much does each category contribute to total sales</a:t>
            </a:r>
            <a:r>
              <a:rPr lang="en-US" sz="2400" i="1" dirty="0"/>
              <a:t>? Our revenue streams are remarkably well-balanced, with our three core categories each contributing approximately one-third of our total sales volume.</a:t>
            </a:r>
          </a:p>
          <a:p>
            <a:endParaRPr lang="en-US" sz="2400" i="1" dirty="0"/>
          </a:p>
          <a:p>
            <a:r>
              <a:rPr lang="en-US" sz="2400" i="1" dirty="0"/>
              <a:t>Leading Segment: Technology is our strongest category, accounting for $836.15K (36.4%) of total </a:t>
            </a:r>
            <a:r>
              <a:rPr lang="en-US" sz="2400" i="1" dirty="0" err="1"/>
              <a:t>revenue.Secondary</a:t>
            </a:r>
            <a:r>
              <a:rPr lang="en-US" sz="2400" i="1" dirty="0"/>
              <a:t> Drivers: Furniture follows closely at $742K (32.3%), with Office Supplies rounding out the portfolio at $719.05K (31.3%).Low Concentration Risk: From a strategic standpoint, we are not over-reliant on a single category. Even our smallest segment (Office Supplies) is within 5 percentage points of our largest, indicating a very stable and diversified revenue base.</a:t>
            </a:r>
          </a:p>
        </p:txBody>
      </p:sp>
    </p:spTree>
    <p:extLst>
      <p:ext uri="{BB962C8B-B14F-4D97-AF65-F5344CB8AC3E}">
        <p14:creationId xmlns:p14="http://schemas.microsoft.com/office/powerpoint/2010/main" val="3816568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3338B6-7E22-9985-8FD3-4EDEDC10F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989" y="545954"/>
            <a:ext cx="9636291" cy="5407806"/>
          </a:xfrm>
          <a:prstGeom prst="rect">
            <a:avLst/>
          </a:prstGeom>
        </p:spPr>
      </p:pic>
    </p:spTree>
    <p:extLst>
      <p:ext uri="{BB962C8B-B14F-4D97-AF65-F5344CB8AC3E}">
        <p14:creationId xmlns:p14="http://schemas.microsoft.com/office/powerpoint/2010/main" val="1668153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3800" b="1" dirty="0">
                <a:solidFill>
                  <a:prstClr val="black"/>
                </a:solidFill>
              </a:rPr>
              <a:t>Strategic </a:t>
            </a:r>
            <a:r>
              <a:rPr lang="fr-FR" sz="3800" b="1" dirty="0" err="1">
                <a:solidFill>
                  <a:prstClr val="black"/>
                </a:solidFill>
              </a:rPr>
              <a:t>Optimization</a:t>
            </a:r>
            <a:r>
              <a:rPr lang="fr-FR" sz="3800" b="1" dirty="0">
                <a:solidFill>
                  <a:prstClr val="black"/>
                </a:solidFill>
              </a:rPr>
              <a:t> &amp; Risk </a:t>
            </a:r>
            <a:r>
              <a:rPr lang="fr-FR" sz="3800" b="1" dirty="0" err="1">
                <a:solidFill>
                  <a:prstClr val="black"/>
                </a:solidFill>
              </a:rPr>
              <a:t>Intelligenc</a:t>
            </a:r>
            <a:endParaRPr lang="en-US" sz="3800" dirty="0"/>
          </a:p>
        </p:txBody>
      </p:sp>
      <p:sp>
        <p:nvSpPr>
          <p:cNvPr id="3" name="Content Placeholder 2"/>
          <p:cNvSpPr>
            <a:spLocks noGrp="1"/>
          </p:cNvSpPr>
          <p:nvPr>
            <p:ph idx="1"/>
          </p:nvPr>
        </p:nvSpPr>
        <p:spPr/>
        <p:txBody>
          <a:bodyPr/>
          <a:lstStyle/>
          <a:p>
            <a:r>
              <a:rPr lang="en-US" i="1" dirty="0"/>
              <a:t>Customer Frequency (Q11):</a:t>
            </a:r>
          </a:p>
          <a:p>
            <a:pPr marL="0" indent="0">
              <a:buNone/>
            </a:pPr>
            <a:r>
              <a:rPr lang="en-US" i="1" dirty="0"/>
              <a:t>Question 11 asks about loyalty. Who orders most frequently? Our top customer is Emily Phan, with 17 distinct orders. She is followed by a cohort of loyalists with 13 orders each. These are our 'Super Users', yet our current marketing treats them the same as one-time buyers.</a:t>
            </a:r>
          </a:p>
        </p:txBody>
      </p:sp>
    </p:spTree>
    <p:extLst>
      <p:ext uri="{BB962C8B-B14F-4D97-AF65-F5344CB8AC3E}">
        <p14:creationId xmlns:p14="http://schemas.microsoft.com/office/powerpoint/2010/main" val="3966515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785071" y="975307"/>
            <a:ext cx="10621857" cy="4907384"/>
          </a:xfrm>
          <a:prstGeom prst="rect">
            <a:avLst/>
          </a:prstGeom>
        </p:spPr>
      </p:pic>
    </p:spTree>
    <p:extLst>
      <p:ext uri="{BB962C8B-B14F-4D97-AF65-F5344CB8AC3E}">
        <p14:creationId xmlns:p14="http://schemas.microsoft.com/office/powerpoint/2010/main" val="1442223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EA739-6829-C206-B304-9AD50E6FB7D4}"/>
              </a:ext>
            </a:extLst>
          </p:cNvPr>
          <p:cNvSpPr txBox="1"/>
          <p:nvPr/>
        </p:nvSpPr>
        <p:spPr>
          <a:xfrm>
            <a:off x="1309931" y="904135"/>
            <a:ext cx="8656320" cy="707886"/>
          </a:xfrm>
          <a:prstGeom prst="rect">
            <a:avLst/>
          </a:prstGeom>
          <a:noFill/>
        </p:spPr>
        <p:txBody>
          <a:bodyPr wrap="square">
            <a:spAutoFit/>
          </a:bodyPr>
          <a:lstStyle/>
          <a:p>
            <a:r>
              <a:rPr lang="fr-FR" sz="4000" b="1" dirty="0">
                <a:solidFill>
                  <a:prstClr val="black"/>
                </a:solidFill>
                <a:latin typeface="+mj-lt"/>
              </a:rPr>
              <a:t>Strategic </a:t>
            </a:r>
            <a:r>
              <a:rPr lang="fr-FR" sz="4000" b="1" dirty="0" err="1">
                <a:solidFill>
                  <a:prstClr val="black"/>
                </a:solidFill>
                <a:latin typeface="+mj-lt"/>
              </a:rPr>
              <a:t>Optimization</a:t>
            </a:r>
            <a:r>
              <a:rPr lang="fr-FR" sz="4000" b="1" dirty="0">
                <a:solidFill>
                  <a:prstClr val="black"/>
                </a:solidFill>
                <a:latin typeface="+mj-lt"/>
              </a:rPr>
              <a:t> &amp; Risk </a:t>
            </a:r>
            <a:r>
              <a:rPr lang="fr-FR" sz="4000" b="1" dirty="0" err="1">
                <a:solidFill>
                  <a:prstClr val="black"/>
                </a:solidFill>
                <a:latin typeface="+mj-lt"/>
              </a:rPr>
              <a:t>Intelligenc</a:t>
            </a:r>
            <a:endParaRPr lang="en-US" sz="4000" dirty="0">
              <a:latin typeface="+mj-lt"/>
            </a:endParaRPr>
          </a:p>
        </p:txBody>
      </p:sp>
      <p:sp>
        <p:nvSpPr>
          <p:cNvPr id="5" name="TextBox 4">
            <a:extLst>
              <a:ext uri="{FF2B5EF4-FFF2-40B4-BE49-F238E27FC236}">
                <a16:creationId xmlns:a16="http://schemas.microsoft.com/office/drawing/2014/main" id="{20BB4174-7968-280B-67E9-95920598EE8F}"/>
              </a:ext>
            </a:extLst>
          </p:cNvPr>
          <p:cNvSpPr txBox="1"/>
          <p:nvPr/>
        </p:nvSpPr>
        <p:spPr>
          <a:xfrm>
            <a:off x="1178560" y="2023517"/>
            <a:ext cx="8656320" cy="1384995"/>
          </a:xfrm>
          <a:prstGeom prst="rect">
            <a:avLst/>
          </a:prstGeom>
          <a:noFill/>
        </p:spPr>
        <p:txBody>
          <a:bodyPr wrap="square">
            <a:spAutoFit/>
          </a:bodyPr>
          <a:lstStyle/>
          <a:p>
            <a:r>
              <a:rPr lang="en-US" sz="2800" i="1" dirty="0"/>
              <a:t>Best performing </a:t>
            </a:r>
            <a:r>
              <a:rPr lang="en-US" sz="2800" i="1" dirty="0" err="1"/>
              <a:t>regios,states</a:t>
            </a:r>
            <a:r>
              <a:rPr lang="en-US" sz="2800" i="1" dirty="0"/>
              <a:t>, and cities in term of profit &amp; sales (Q12):</a:t>
            </a:r>
          </a:p>
          <a:p>
            <a:pPr marL="0" indent="0">
              <a:buNone/>
            </a:pPr>
            <a:r>
              <a:rPr lang="en-US" sz="2800" i="1" dirty="0"/>
              <a:t> </a:t>
            </a:r>
          </a:p>
        </p:txBody>
      </p:sp>
      <p:pic>
        <p:nvPicPr>
          <p:cNvPr id="7" name="Picture 6">
            <a:extLst>
              <a:ext uri="{FF2B5EF4-FFF2-40B4-BE49-F238E27FC236}">
                <a16:creationId xmlns:a16="http://schemas.microsoft.com/office/drawing/2014/main" id="{085D1CDF-D345-9F5A-6270-9AC8CEF98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5840" y="2846509"/>
            <a:ext cx="8290560" cy="3818241"/>
          </a:xfrm>
          <a:prstGeom prst="rect">
            <a:avLst/>
          </a:prstGeom>
        </p:spPr>
      </p:pic>
    </p:spTree>
    <p:extLst>
      <p:ext uri="{BB962C8B-B14F-4D97-AF65-F5344CB8AC3E}">
        <p14:creationId xmlns:p14="http://schemas.microsoft.com/office/powerpoint/2010/main" val="4000933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4A5360-84E4-E3CA-2BD5-68151858AB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716" y="815132"/>
            <a:ext cx="5233010" cy="4518868"/>
          </a:xfrm>
          <a:prstGeom prst="rect">
            <a:avLst/>
          </a:prstGeom>
        </p:spPr>
      </p:pic>
      <p:pic>
        <p:nvPicPr>
          <p:cNvPr id="7" name="Picture 6">
            <a:extLst>
              <a:ext uri="{FF2B5EF4-FFF2-40B4-BE49-F238E27FC236}">
                <a16:creationId xmlns:a16="http://schemas.microsoft.com/office/drawing/2014/main" id="{C70AF757-4EE9-BF75-CDB0-323728A2C4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3103" y="815132"/>
            <a:ext cx="5426264" cy="4658375"/>
          </a:xfrm>
          <a:prstGeom prst="rect">
            <a:avLst/>
          </a:prstGeom>
        </p:spPr>
      </p:pic>
    </p:spTree>
    <p:extLst>
      <p:ext uri="{BB962C8B-B14F-4D97-AF65-F5344CB8AC3E}">
        <p14:creationId xmlns:p14="http://schemas.microsoft.com/office/powerpoint/2010/main" val="2241196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3900" b="1" dirty="0">
                <a:solidFill>
                  <a:prstClr val="black"/>
                </a:solidFill>
              </a:rPr>
              <a:t>Strategic </a:t>
            </a:r>
            <a:r>
              <a:rPr lang="fr-FR" sz="3900" b="1" dirty="0" err="1">
                <a:solidFill>
                  <a:prstClr val="black"/>
                </a:solidFill>
              </a:rPr>
              <a:t>Optimization</a:t>
            </a:r>
            <a:r>
              <a:rPr lang="fr-FR" sz="3900" b="1" dirty="0">
                <a:solidFill>
                  <a:prstClr val="black"/>
                </a:solidFill>
              </a:rPr>
              <a:t> &amp; Risk </a:t>
            </a:r>
            <a:r>
              <a:rPr lang="fr-FR" sz="3900" b="1" dirty="0" err="1">
                <a:solidFill>
                  <a:prstClr val="black"/>
                </a:solidFill>
              </a:rPr>
              <a:t>Intelligenc</a:t>
            </a:r>
            <a:endParaRPr lang="en-US" sz="3900" dirty="0"/>
          </a:p>
        </p:txBody>
      </p:sp>
      <p:sp>
        <p:nvSpPr>
          <p:cNvPr id="3" name="Content Placeholder 2"/>
          <p:cNvSpPr>
            <a:spLocks noGrp="1"/>
          </p:cNvSpPr>
          <p:nvPr>
            <p:ph idx="1"/>
          </p:nvPr>
        </p:nvSpPr>
        <p:spPr/>
        <p:txBody>
          <a:bodyPr>
            <a:normAutofit fontScale="92500" lnSpcReduction="10000"/>
          </a:bodyPr>
          <a:lstStyle/>
          <a:p>
            <a:r>
              <a:rPr lang="en-US" i="1" dirty="0"/>
              <a:t>The Discount Profitability Cliff (Q14): </a:t>
            </a:r>
          </a:p>
          <a:p>
            <a:pPr marL="0" indent="0">
              <a:buNone/>
            </a:pPr>
            <a:r>
              <a:rPr lang="en-US" i="1" dirty="0"/>
              <a:t>How do discounts impact profitability? This visual show how different discount levels impact total profit. It helps determine whether discounting generates or destroys values.</a:t>
            </a:r>
          </a:p>
          <a:p>
            <a:pPr marL="0" indent="0">
              <a:buNone/>
            </a:pPr>
            <a:r>
              <a:rPr lang="en-US" i="1" dirty="0"/>
              <a:t>At 0% discount, the business generates its highest profit which is +$321k profit but as discount start increasing:</a:t>
            </a:r>
          </a:p>
          <a:p>
            <a:r>
              <a:rPr lang="en-US" i="1" dirty="0"/>
              <a:t>At 20% discount, profit drops sharply to +$90k</a:t>
            </a:r>
          </a:p>
          <a:p>
            <a:r>
              <a:rPr lang="en-US" i="1" dirty="0"/>
              <a:t>At 10% discount, profit barely holds at +$9k </a:t>
            </a:r>
          </a:p>
          <a:p>
            <a:r>
              <a:rPr lang="en-US" i="1" dirty="0"/>
              <a:t>At 15% discount, profit drop drastically to +$1k</a:t>
            </a:r>
          </a:p>
          <a:p>
            <a:pPr marL="0" indent="0">
              <a:buNone/>
            </a:pPr>
            <a:r>
              <a:rPr lang="en-US" i="1" dirty="0"/>
              <a:t>After that the more the discount is above 30% the company only </a:t>
            </a:r>
            <a:r>
              <a:rPr lang="en-US" i="1" dirty="0" err="1"/>
              <a:t>incure</a:t>
            </a:r>
            <a:r>
              <a:rPr lang="en-US" i="1" dirty="0"/>
              <a:t> Negative profit.</a:t>
            </a:r>
          </a:p>
        </p:txBody>
      </p:sp>
    </p:spTree>
    <p:extLst>
      <p:ext uri="{BB962C8B-B14F-4D97-AF65-F5344CB8AC3E}">
        <p14:creationId xmlns:p14="http://schemas.microsoft.com/office/powerpoint/2010/main" val="4012499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292850-4FED-F085-BBCA-D56C7EA8D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829" y="352280"/>
            <a:ext cx="10783452" cy="5971713"/>
          </a:xfrm>
          <a:prstGeom prst="rect">
            <a:avLst/>
          </a:prstGeom>
        </p:spPr>
      </p:pic>
    </p:spTree>
    <p:extLst>
      <p:ext uri="{BB962C8B-B14F-4D97-AF65-F5344CB8AC3E}">
        <p14:creationId xmlns:p14="http://schemas.microsoft.com/office/powerpoint/2010/main" val="1883350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633"/>
            <a:ext cx="10515600" cy="1325563"/>
          </a:xfrm>
        </p:spPr>
        <p:txBody>
          <a:bodyPr/>
          <a:lstStyle/>
          <a:p>
            <a:r>
              <a:rPr lang="en-US" b="1" dirty="0"/>
              <a:t>STRATEGIC RECOMMENDATION</a:t>
            </a:r>
          </a:p>
        </p:txBody>
      </p:sp>
      <p:sp>
        <p:nvSpPr>
          <p:cNvPr id="3" name="Content Placeholder 2"/>
          <p:cNvSpPr>
            <a:spLocks noGrp="1"/>
          </p:cNvSpPr>
          <p:nvPr>
            <p:ph idx="1"/>
          </p:nvPr>
        </p:nvSpPr>
        <p:spPr>
          <a:xfrm>
            <a:off x="838200" y="854912"/>
            <a:ext cx="10515600" cy="4351338"/>
          </a:xfrm>
        </p:spPr>
        <p:txBody>
          <a:bodyPr>
            <a:noAutofit/>
          </a:bodyPr>
          <a:lstStyle/>
          <a:p>
            <a:pPr marL="0" indent="0">
              <a:buNone/>
            </a:pPr>
            <a:endParaRPr lang="en-US" sz="2200" dirty="0"/>
          </a:p>
          <a:p>
            <a:r>
              <a:rPr lang="en-US" sz="2200" i="1" dirty="0"/>
              <a:t>Enforce a 20% Discount Cap: The data is undeniable, profits crash once discounts exceed 20%. No discount above 20% should be allowed without Manager's approval. This stops the bleeding identified in Question 5&amp;14.</a:t>
            </a:r>
          </a:p>
          <a:p>
            <a:r>
              <a:rPr lang="en-US" sz="2200" i="1" dirty="0"/>
              <a:t>Delist Unprofitable Products: </a:t>
            </a:r>
            <a:r>
              <a:rPr lang="en-US" sz="2200" i="1" dirty="0" err="1"/>
              <a:t>Ee</a:t>
            </a:r>
            <a:r>
              <a:rPr lang="en-US" sz="2200" i="1" dirty="0"/>
              <a:t> must remove the </a:t>
            </a:r>
            <a:r>
              <a:rPr lang="en-US" sz="2200" i="1" dirty="0" err="1"/>
              <a:t>Cubify</a:t>
            </a:r>
            <a:r>
              <a:rPr lang="en-US" sz="2200" i="1" dirty="0"/>
              <a:t> 3D Printers and Lexmark Units identified in Question 9 from our active catalogue immediately. They are dragging down our Technology margins. </a:t>
            </a:r>
          </a:p>
          <a:p>
            <a:r>
              <a:rPr lang="en-US" sz="2200" i="1" dirty="0"/>
              <a:t>Regional Intervention in the Central Region: The Central Region (Texas/Illinois) is driving volume but destroying profit. </a:t>
            </a:r>
            <a:r>
              <a:rPr lang="en-US" sz="2200" i="1" dirty="0" err="1"/>
              <a:t>SmartMart</a:t>
            </a:r>
            <a:r>
              <a:rPr lang="en-US" sz="2200" i="1" dirty="0"/>
              <a:t> should investigate if </a:t>
            </a:r>
            <a:r>
              <a:rPr lang="en-US" sz="2200" i="1" dirty="0" err="1"/>
              <a:t>loval</a:t>
            </a:r>
            <a:r>
              <a:rPr lang="en-US" sz="2200" i="1" dirty="0"/>
              <a:t> competitors are forcing aggressive price ward or if regional shipping costs are too high. Consider localized pricing in these states. </a:t>
            </a:r>
          </a:p>
          <a:p>
            <a:r>
              <a:rPr lang="en-US" sz="2200" i="1" dirty="0"/>
              <a:t>Seasonal Inventory Alignment: We should align our procurement with the seasonal peaks identified in Question 3 -- stocking HP Printers in winter and Canon Copiers in Autumn to maximize our best months. </a:t>
            </a:r>
          </a:p>
          <a:p>
            <a:r>
              <a:rPr lang="en-US" sz="2200" i="1" dirty="0"/>
              <a:t>Customer Loyalty Program: Target the top 10 unique customers (identified via out RANK measure) with a VIP program. Retaining a high-value Customer like Emily Phan is significantly cheaper than acquiring new customers in the slow months.</a:t>
            </a:r>
          </a:p>
        </p:txBody>
      </p:sp>
    </p:spTree>
    <p:extLst>
      <p:ext uri="{BB962C8B-B14F-4D97-AF65-F5344CB8AC3E}">
        <p14:creationId xmlns:p14="http://schemas.microsoft.com/office/powerpoint/2010/main" val="2912532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77134-F6CB-2FD9-3412-782B3ACE242E}"/>
              </a:ext>
            </a:extLst>
          </p:cNvPr>
          <p:cNvSpPr>
            <a:spLocks noGrp="1"/>
          </p:cNvSpPr>
          <p:nvPr>
            <p:ph type="title"/>
          </p:nvPr>
        </p:nvSpPr>
        <p:spPr>
          <a:xfrm>
            <a:off x="838200" y="365126"/>
            <a:ext cx="10515600" cy="1017108"/>
          </a:xfrm>
        </p:spPr>
        <p:txBody>
          <a:bodyPr/>
          <a:lstStyle/>
          <a:p>
            <a:pPr algn="ctr"/>
            <a:r>
              <a:rPr lang="en-US" dirty="0"/>
              <a:t>Active Group Members</a:t>
            </a:r>
          </a:p>
        </p:txBody>
      </p:sp>
      <p:sp>
        <p:nvSpPr>
          <p:cNvPr id="3" name="Content Placeholder 2">
            <a:extLst>
              <a:ext uri="{FF2B5EF4-FFF2-40B4-BE49-F238E27FC236}">
                <a16:creationId xmlns:a16="http://schemas.microsoft.com/office/drawing/2014/main" id="{4E3DAC26-2DA3-26E6-6FF0-38078578D6B7}"/>
              </a:ext>
            </a:extLst>
          </p:cNvPr>
          <p:cNvSpPr>
            <a:spLocks noGrp="1"/>
          </p:cNvSpPr>
          <p:nvPr>
            <p:ph idx="1"/>
          </p:nvPr>
        </p:nvSpPr>
        <p:spPr>
          <a:xfrm>
            <a:off x="520994" y="1382235"/>
            <a:ext cx="10832805" cy="4773462"/>
          </a:xfrm>
        </p:spPr>
        <p:txBody>
          <a:bodyPr>
            <a:normAutofit/>
          </a:bodyPr>
          <a:lstStyle/>
          <a:p>
            <a:r>
              <a:rPr lang="en-US" dirty="0"/>
              <a:t>Gabriel </a:t>
            </a:r>
            <a:r>
              <a:rPr lang="en-US" dirty="0" err="1"/>
              <a:t>Afolami</a:t>
            </a:r>
            <a:r>
              <a:rPr lang="en-US" dirty="0"/>
              <a:t> DA/2025/TC4/624</a:t>
            </a:r>
          </a:p>
          <a:p>
            <a:r>
              <a:rPr lang="en-US" dirty="0" err="1"/>
              <a:t>Opeloyeru</a:t>
            </a:r>
            <a:r>
              <a:rPr lang="en-US" dirty="0"/>
              <a:t> Eniola Comfort DA/2025/TC4/625</a:t>
            </a:r>
          </a:p>
          <a:p>
            <a:r>
              <a:rPr lang="en-US" dirty="0" err="1"/>
              <a:t>Abolade</a:t>
            </a:r>
            <a:r>
              <a:rPr lang="en-US" dirty="0"/>
              <a:t> Eniola </a:t>
            </a:r>
            <a:r>
              <a:rPr lang="en-US" dirty="0" err="1"/>
              <a:t>SururahDA</a:t>
            </a:r>
            <a:r>
              <a:rPr lang="en-US" dirty="0"/>
              <a:t>/2025/TC4/628</a:t>
            </a:r>
          </a:p>
          <a:p>
            <a:r>
              <a:rPr lang="en-US" dirty="0"/>
              <a:t>Toritseju </a:t>
            </a:r>
            <a:r>
              <a:rPr lang="en-US" dirty="0" err="1"/>
              <a:t>Ofeoritse</a:t>
            </a:r>
            <a:r>
              <a:rPr lang="en-US" dirty="0"/>
              <a:t> </a:t>
            </a:r>
            <a:r>
              <a:rPr lang="en-US" dirty="0" err="1"/>
              <a:t>MarxDA</a:t>
            </a:r>
            <a:r>
              <a:rPr lang="en-US" dirty="0"/>
              <a:t>/2025/TC4/627</a:t>
            </a:r>
          </a:p>
          <a:p>
            <a:r>
              <a:rPr lang="en-US" dirty="0"/>
              <a:t>Adebayo Abdulfatai </a:t>
            </a:r>
            <a:r>
              <a:rPr lang="en-US" dirty="0" err="1"/>
              <a:t>AyindeDA</a:t>
            </a:r>
            <a:r>
              <a:rPr lang="en-US" dirty="0"/>
              <a:t>/2025/640</a:t>
            </a:r>
          </a:p>
          <a:p>
            <a:r>
              <a:rPr lang="en-US" dirty="0"/>
              <a:t> Ifeoluwa </a:t>
            </a:r>
            <a:r>
              <a:rPr lang="en-US" dirty="0" err="1"/>
              <a:t>EstherDA</a:t>
            </a:r>
            <a:r>
              <a:rPr lang="en-US" dirty="0"/>
              <a:t>/2025/TC4/638</a:t>
            </a:r>
          </a:p>
          <a:p>
            <a:r>
              <a:rPr lang="en-US" dirty="0" err="1"/>
              <a:t>Folahanmi</a:t>
            </a:r>
            <a:r>
              <a:rPr lang="en-US" dirty="0"/>
              <a:t> </a:t>
            </a:r>
            <a:r>
              <a:rPr lang="en-US" dirty="0" err="1"/>
              <a:t>Omogoriola</a:t>
            </a:r>
            <a:r>
              <a:rPr lang="en-US" dirty="0"/>
              <a:t> </a:t>
            </a:r>
            <a:r>
              <a:rPr lang="en-US" dirty="0" err="1"/>
              <a:t>EbenezerDA</a:t>
            </a:r>
            <a:r>
              <a:rPr lang="en-US" dirty="0"/>
              <a:t>/2025/TC4/642</a:t>
            </a:r>
          </a:p>
          <a:p>
            <a:r>
              <a:rPr lang="en-US" dirty="0"/>
              <a:t>Ajetunmobi </a:t>
            </a:r>
            <a:r>
              <a:rPr lang="en-US" dirty="0" err="1"/>
              <a:t>Moyosoluwa</a:t>
            </a:r>
            <a:r>
              <a:rPr lang="en-US" dirty="0"/>
              <a:t> </a:t>
            </a:r>
            <a:r>
              <a:rPr lang="en-US" dirty="0" err="1"/>
              <a:t>MisturaDA</a:t>
            </a:r>
            <a:r>
              <a:rPr lang="en-US" dirty="0"/>
              <a:t>/2025/TC4/632</a:t>
            </a:r>
          </a:p>
          <a:p>
            <a:r>
              <a:rPr lang="en-US" dirty="0"/>
              <a:t>John </a:t>
            </a:r>
            <a:r>
              <a:rPr lang="en-US" dirty="0" err="1"/>
              <a:t>AkinwandeDA</a:t>
            </a:r>
            <a:r>
              <a:rPr lang="en-US" dirty="0"/>
              <a:t>/2025/TC4/636</a:t>
            </a:r>
          </a:p>
        </p:txBody>
      </p:sp>
    </p:spTree>
    <p:extLst>
      <p:ext uri="{BB962C8B-B14F-4D97-AF65-F5344CB8AC3E}">
        <p14:creationId xmlns:p14="http://schemas.microsoft.com/office/powerpoint/2010/main" val="2830643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270" y="2527557"/>
            <a:ext cx="10515600" cy="1325563"/>
          </a:xfrm>
        </p:spPr>
        <p:txBody>
          <a:bodyPr/>
          <a:lstStyle/>
          <a:p>
            <a:pPr algn="ctr"/>
            <a:r>
              <a:rPr lang="en-US" b="1" i="1" dirty="0"/>
              <a:t>THANK YOU</a:t>
            </a:r>
          </a:p>
        </p:txBody>
      </p:sp>
    </p:spTree>
    <p:extLst>
      <p:ext uri="{BB962C8B-B14F-4D97-AF65-F5344CB8AC3E}">
        <p14:creationId xmlns:p14="http://schemas.microsoft.com/office/powerpoint/2010/main" val="3071766986"/>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648</TotalTime>
  <Words>1554</Words>
  <Application>Microsoft Office PowerPoint</Application>
  <PresentationFormat>Widescreen</PresentationFormat>
  <Paragraphs>78</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SmartRetail Performance Review: A Data-Driven Analysis</vt:lpstr>
      <vt:lpstr>Business Performance Overview</vt:lpstr>
      <vt:lpstr>THE BASELINE METRICS</vt:lpstr>
      <vt:lpstr>THE BASELINE METRICS</vt:lpstr>
      <vt:lpstr>PowerPoint Presentation</vt:lpstr>
      <vt:lpstr>THE BASELINE METRICS</vt:lpstr>
      <vt:lpstr>PowerPoint Presentation</vt:lpstr>
      <vt:lpstr>THE CUSTOMER PROFILE</vt:lpstr>
      <vt:lpstr>THE CUSTOMER PROFILE</vt:lpstr>
      <vt:lpstr>PowerPoint Presentation</vt:lpstr>
      <vt:lpstr>Market Dynamics &amp; Portfolio Performance</vt:lpstr>
      <vt:lpstr>Market Dynamics &amp; Portfolio Performance</vt:lpstr>
      <vt:lpstr>PowerPoint Presentation</vt:lpstr>
      <vt:lpstr>Market Dynamics &amp; Portfolio Performance</vt:lpstr>
      <vt:lpstr>PowerPoint Presentation</vt:lpstr>
      <vt:lpstr>PowerPoint Presentation</vt:lpstr>
      <vt:lpstr>PowerPoint Presentation</vt:lpstr>
      <vt:lpstr>PowerPoint Presentation</vt:lpstr>
      <vt:lpstr>PowerPoint Presentation</vt:lpstr>
      <vt:lpstr>Strategic Optimization &amp; Risk Intelligenc</vt:lpstr>
      <vt:lpstr>PowerPoint Presentation</vt:lpstr>
      <vt:lpstr>PowerPoint Presentation</vt:lpstr>
      <vt:lpstr>PowerPoint Presentation</vt:lpstr>
      <vt:lpstr>Strategic Optimization &amp; Risk Intelligenc</vt:lpstr>
      <vt:lpstr>PowerPoint Presentation</vt:lpstr>
      <vt:lpstr>STRATEGIC RECOMMENDATION</vt:lpstr>
      <vt:lpstr>Active Group Members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Performance Review: SmartMart Retail Company</dc:title>
  <dc:creator>user</dc:creator>
  <cp:lastModifiedBy>Adebayo Abdulfatai</cp:lastModifiedBy>
  <cp:revision>21</cp:revision>
  <dcterms:created xsi:type="dcterms:W3CDTF">2026-01-16T20:19:35Z</dcterms:created>
  <dcterms:modified xsi:type="dcterms:W3CDTF">2026-01-17T17:06:28Z</dcterms:modified>
</cp:coreProperties>
</file>